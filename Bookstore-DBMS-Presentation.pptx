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svg"/><Relationship Id="rId10" Type="http://schemas.openxmlformats.org/officeDocument/2006/relationships/image" Target="../media/image-5-10.png"/><Relationship Id="rId11" Type="http://schemas.openxmlformats.org/officeDocument/2006/relationships/image" Target="../media/image-5-11.svg"/><Relationship Id="rId12" Type="http://schemas.openxmlformats.org/officeDocument/2006/relationships/image" Target="../media/image-5-12.png"/><Relationship Id="rId13" Type="http://schemas.openxmlformats.org/officeDocument/2006/relationships/image" Target="../media/image-5-13.sv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image" Target="../media/image-6-8.png"/><Relationship Id="rId9" Type="http://schemas.openxmlformats.org/officeDocument/2006/relationships/image" Target="../media/image-6-9.svg"/><Relationship Id="rId10" Type="http://schemas.openxmlformats.org/officeDocument/2006/relationships/image" Target="../media/image-6-10.png"/><Relationship Id="rId11" Type="http://schemas.openxmlformats.org/officeDocument/2006/relationships/image" Target="../media/image-6-11.svg"/><Relationship Id="rId12" Type="http://schemas.openxmlformats.org/officeDocument/2006/relationships/image" Target="../media/image-6-12.png"/><Relationship Id="rId13" Type="http://schemas.openxmlformats.org/officeDocument/2006/relationships/image" Target="../media/image-6-13.svg"/><Relationship Id="rId14" Type="http://schemas.openxmlformats.org/officeDocument/2006/relationships/image" Target="../media/image-6-14.png"/><Relationship Id="rId15" Type="http://schemas.openxmlformats.org/officeDocument/2006/relationships/image" Target="../media/image-6-15.svg"/><Relationship Id="rId16" Type="http://schemas.openxmlformats.org/officeDocument/2006/relationships/image" Target="../media/image-6-16.png"/><Relationship Id="rId17" Type="http://schemas.openxmlformats.org/officeDocument/2006/relationships/image" Target="../media/image-6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image" Target="../media/image-7-10.png"/><Relationship Id="rId11" Type="http://schemas.openxmlformats.org/officeDocument/2006/relationships/image" Target="../media/image-7-11.svg"/><Relationship Id="rId12" Type="http://schemas.openxmlformats.org/officeDocument/2006/relationships/image" Target="../media/image-7-12.png"/><Relationship Id="rId13" Type="http://schemas.openxmlformats.org/officeDocument/2006/relationships/image" Target="../media/image-7-13.svg"/><Relationship Id="rId14" Type="http://schemas.openxmlformats.org/officeDocument/2006/relationships/image" Target="../media/image-7-14.png"/><Relationship Id="rId15" Type="http://schemas.openxmlformats.org/officeDocument/2006/relationships/image" Target="../media/image-7-15.svg"/><Relationship Id="rId16" Type="http://schemas.openxmlformats.org/officeDocument/2006/relationships/image" Target="../media/image-7-16.png"/><Relationship Id="rId17" Type="http://schemas.openxmlformats.org/officeDocument/2006/relationships/image" Target="../media/image-7-17.sv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>
            <a:alphaModFix amt="80000"/>
          </a:blip>
          <a:stretch>
            <a:fillRect/>
          </a:stretch>
        </p:blipFill>
        <p:spPr>
          <a:xfrm>
            <a:off x="4753942" y="1388269"/>
            <a:ext cx="4391025" cy="2366963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3942" y="1388269"/>
            <a:ext cx="4391025" cy="2366963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48580" y="621953"/>
            <a:ext cx="5397877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1620"/>
              </a:spcAft>
              <a:buNone/>
            </a:pPr>
            <a:r>
              <a:rPr lang="en-US" sz="1220" b="1" spc="171" kern="0" dirty="0">
                <a:solidFill>
                  <a:srgbClr val="C3C7C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WOXSEN UNIVERSITY · SCHOOL OF TECHNOLOGY</a:t>
            </a:r>
            <a:endParaRPr lang="en-US" sz="1220" dirty="0"/>
          </a:p>
        </p:txBody>
      </p:sp>
      <p:sp>
        <p:nvSpPr>
          <p:cNvPr id="6" name="Text 1"/>
          <p:cNvSpPr/>
          <p:nvPr/>
        </p:nvSpPr>
        <p:spPr>
          <a:xfrm>
            <a:off x="548580" y="994097"/>
            <a:ext cx="6062566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20" b="1" spc="-210" kern="0" dirty="0">
                <a:solidFill>
                  <a:srgbClr val="F4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Bookstore Inventory &amp;</a:t>
            </a:r>
            <a:endParaRPr lang="en-US" sz="3820" dirty="0"/>
          </a:p>
        </p:txBody>
      </p:sp>
      <p:sp>
        <p:nvSpPr>
          <p:cNvPr id="7" name="Text 2"/>
          <p:cNvSpPr/>
          <p:nvPr/>
        </p:nvSpPr>
        <p:spPr>
          <a:xfrm>
            <a:off x="548580" y="1498104"/>
            <a:ext cx="3303880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20" b="1" spc="-210" kern="0" dirty="0">
                <a:solidFill>
                  <a:srgbClr val="F4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Online Sales</a:t>
            </a:r>
            <a:endParaRPr lang="en-US" sz="3820" dirty="0"/>
          </a:p>
        </p:txBody>
      </p:sp>
      <p:sp>
        <p:nvSpPr>
          <p:cNvPr id="8" name="Text 3"/>
          <p:cNvSpPr/>
          <p:nvPr/>
        </p:nvSpPr>
        <p:spPr>
          <a:xfrm>
            <a:off x="548580" y="2002110"/>
            <a:ext cx="5904786" cy="6191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820" b="1" spc="-210" kern="0" dirty="0">
                <a:solidFill>
                  <a:srgbClr val="F4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Management System</a:t>
            </a:r>
            <a:endParaRPr lang="en-US" sz="3820" dirty="0"/>
          </a:p>
        </p:txBody>
      </p:sp>
      <p:sp>
        <p:nvSpPr>
          <p:cNvPr id="9" name="Text 4"/>
          <p:cNvSpPr/>
          <p:nvPr/>
        </p:nvSpPr>
        <p:spPr>
          <a:xfrm>
            <a:off x="548580" y="2764185"/>
            <a:ext cx="4138054" cy="2809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0"/>
              </a:spcBef>
              <a:buNone/>
            </a:pPr>
            <a:r>
              <a:rPr lang="en-US" sz="1550" dirty="0">
                <a:solidFill>
                  <a:srgbClr val="C3C7C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Management System project</a:t>
            </a:r>
            <a:endParaRPr lang="en-US" sz="1550" dirty="0"/>
          </a:p>
        </p:txBody>
      </p:sp>
      <p:sp>
        <p:nvSpPr>
          <p:cNvPr id="10" name="Shape 5"/>
          <p:cNvSpPr/>
          <p:nvPr/>
        </p:nvSpPr>
        <p:spPr>
          <a:xfrm>
            <a:off x="549027" y="3656186"/>
            <a:ext cx="3748087" cy="862012"/>
          </a:xfrm>
          <a:prstGeom prst="rect">
            <a:avLst/>
          </a:prstGeom>
          <a:ln/>
        </p:spPr>
      </p:sp>
      <p:sp>
        <p:nvSpPr>
          <p:cNvPr id="11" name="Text 6"/>
          <p:cNvSpPr/>
          <p:nvPr/>
        </p:nvSpPr>
        <p:spPr>
          <a:xfrm>
            <a:off x="548580" y="3778895"/>
            <a:ext cx="1846808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Nirmaan Vijay Vargi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48580" y="4061743"/>
            <a:ext cx="314116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1120" dirty="0">
                <a:solidFill>
                  <a:srgbClr val="C0C4C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B.Tech AIML · Semester 3 · 25WU0102187</a:t>
            </a:r>
            <a:endParaRPr lang="en-US" sz="1120" dirty="0"/>
          </a:p>
        </p:txBody>
      </p:sp>
      <p:sp>
        <p:nvSpPr>
          <p:cNvPr id="13" name="Text 8"/>
          <p:cNvSpPr/>
          <p:nvPr/>
        </p:nvSpPr>
        <p:spPr>
          <a:xfrm>
            <a:off x="548580" y="4310286"/>
            <a:ext cx="314474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84"/>
              </a:spcBef>
              <a:buNone/>
            </a:pPr>
            <a:r>
              <a:rPr lang="en-US" sz="1120" dirty="0">
                <a:solidFill>
                  <a:srgbClr val="C0C4C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Faculty: Dr. C Nagaraju · 13 October 2026</a:t>
            </a:r>
            <a:endParaRPr lang="en-US" sz="1120" dirty="0"/>
          </a:p>
        </p:txBody>
      </p:sp>
      <p:sp>
        <p:nvSpPr>
          <p:cNvPr id="14" name="Shape 9"/>
          <p:cNvSpPr/>
          <p:nvPr/>
        </p:nvSpPr>
        <p:spPr>
          <a:xfrm>
            <a:off x="548097" y="4708587"/>
            <a:ext cx="1281112" cy="23812"/>
          </a:xfrm>
          <a:prstGeom prst="rect">
            <a:avLst/>
          </a:prstGeom>
          <a:solidFill>
            <a:srgbClr val="D7DBDA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027" y="3656186"/>
            <a:ext cx="3748087" cy="8620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416198"/>
            <a:ext cx="192652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156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OVERVIEW</a:t>
            </a:r>
            <a:endParaRPr lang="en-US" sz="1120" dirty="0"/>
          </a:p>
        </p:txBody>
      </p:sp>
      <p:sp>
        <p:nvSpPr>
          <p:cNvPr id="4" name="Text 1"/>
          <p:cNvSpPr/>
          <p:nvPr/>
        </p:nvSpPr>
        <p:spPr>
          <a:xfrm>
            <a:off x="548580" y="734467"/>
            <a:ext cx="8427623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2590" b="1" spc="-117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connected record of every store operation</a:t>
            </a:r>
            <a:endParaRPr lang="en-US" sz="2590" dirty="0"/>
          </a:p>
        </p:txBody>
      </p:sp>
      <p:sp>
        <p:nvSpPr>
          <p:cNvPr id="5" name="Text 2"/>
          <p:cNvSpPr/>
          <p:nvPr/>
        </p:nvSpPr>
        <p:spPr>
          <a:xfrm>
            <a:off x="548580" y="1288256"/>
            <a:ext cx="7762161" cy="504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44"/>
              </a:lnSpc>
              <a:buNone/>
            </a:pPr>
            <a:r>
              <a:rPr lang="en-US" sz="1440" dirty="0">
                <a:solidFill>
                  <a:srgbClr val="C6CAC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Flask workflows use a relational database to coordinate catalogue, customers,</a:t>
            </a:r>
            <a:endParaRPr lang="en-US" sz="1440" dirty="0"/>
          </a:p>
          <a:p>
            <a:pPr algn="l" indent="0" marL="0">
              <a:lnSpc>
                <a:spcPts val="1944"/>
              </a:lnSpc>
              <a:buNone/>
            </a:pPr>
            <a:r>
              <a:rPr lang="en-US" sz="1440" dirty="0">
                <a:solidFill>
                  <a:srgbClr val="C6CAC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orders, fulfillment and reporting.</a:t>
            </a:r>
            <a:endParaRPr lang="en-US" sz="1440" dirty="0"/>
          </a:p>
        </p:txBody>
      </p:sp>
      <p:sp>
        <p:nvSpPr>
          <p:cNvPr id="6" name="Text 3"/>
          <p:cNvSpPr/>
          <p:nvPr/>
        </p:nvSpPr>
        <p:spPr>
          <a:xfrm>
            <a:off x="548580" y="2310705"/>
            <a:ext cx="154024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134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PRESENTATION</a:t>
            </a:r>
            <a:endParaRPr lang="en-US" sz="1120" dirty="0"/>
          </a:p>
        </p:txBody>
      </p:sp>
      <p:sp>
        <p:nvSpPr>
          <p:cNvPr id="7" name="Text 4"/>
          <p:cNvSpPr/>
          <p:nvPr/>
        </p:nvSpPr>
        <p:spPr>
          <a:xfrm>
            <a:off x="548580" y="2624584"/>
            <a:ext cx="185058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202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HTML / CSS</a:t>
            </a:r>
            <a:endParaRPr lang="en-US" sz="2020" dirty="0"/>
          </a:p>
        </p:txBody>
      </p:sp>
      <p:sp>
        <p:nvSpPr>
          <p:cNvPr id="8" name="Text 5"/>
          <p:cNvSpPr/>
          <p:nvPr/>
        </p:nvSpPr>
        <p:spPr>
          <a:xfrm>
            <a:off x="548580" y="3022300"/>
            <a:ext cx="3085155" cy="44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C5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Dashboard, catalogue, customers,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C5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orders, returns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965672" y="2688803"/>
            <a:ext cx="35597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160" dirty="0"/>
          </a:p>
        </p:txBody>
      </p:sp>
      <p:sp>
        <p:nvSpPr>
          <p:cNvPr id="10" name="Text 7"/>
          <p:cNvSpPr/>
          <p:nvPr/>
        </p:nvSpPr>
        <p:spPr>
          <a:xfrm>
            <a:off x="3405113" y="2310705"/>
            <a:ext cx="13567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134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APPLICATION</a:t>
            </a:r>
            <a:endParaRPr lang="en-US" sz="1120" dirty="0"/>
          </a:p>
        </p:txBody>
      </p:sp>
      <p:sp>
        <p:nvSpPr>
          <p:cNvPr id="11" name="Text 8"/>
          <p:cNvSpPr/>
          <p:nvPr/>
        </p:nvSpPr>
        <p:spPr>
          <a:xfrm>
            <a:off x="3405113" y="2624584"/>
            <a:ext cx="2341431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202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Python / Flask</a:t>
            </a:r>
            <a:endParaRPr lang="en-US" sz="2020" dirty="0"/>
          </a:p>
        </p:txBody>
      </p:sp>
      <p:sp>
        <p:nvSpPr>
          <p:cNvPr id="12" name="Text 9"/>
          <p:cNvSpPr/>
          <p:nvPr/>
        </p:nvSpPr>
        <p:spPr>
          <a:xfrm>
            <a:off x="3405113" y="3022300"/>
            <a:ext cx="2797359" cy="44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C5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Routes, validation, SQL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C5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operations and page rendering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822205" y="2688803"/>
            <a:ext cx="355975" cy="390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6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→</a:t>
            </a:r>
            <a:endParaRPr lang="en-US" sz="2160" dirty="0"/>
          </a:p>
        </p:txBody>
      </p:sp>
      <p:sp>
        <p:nvSpPr>
          <p:cNvPr id="14" name="Text 11"/>
          <p:cNvSpPr/>
          <p:nvPr/>
        </p:nvSpPr>
        <p:spPr>
          <a:xfrm>
            <a:off x="6261646" y="2310705"/>
            <a:ext cx="54587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134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</a:t>
            </a:r>
            <a:endParaRPr lang="en-US" sz="1120" dirty="0"/>
          </a:p>
        </p:txBody>
      </p:sp>
      <p:sp>
        <p:nvSpPr>
          <p:cNvPr id="15" name="Text 12"/>
          <p:cNvSpPr/>
          <p:nvPr/>
        </p:nvSpPr>
        <p:spPr>
          <a:xfrm>
            <a:off x="6261646" y="2624584"/>
            <a:ext cx="277675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48"/>
              </a:spcBef>
              <a:buNone/>
            </a:pPr>
            <a:r>
              <a:rPr lang="en-US" sz="202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MySQL / MariaDB</a:t>
            </a:r>
            <a:endParaRPr lang="en-US" sz="2020" dirty="0"/>
          </a:p>
        </p:txBody>
      </p:sp>
      <p:sp>
        <p:nvSpPr>
          <p:cNvPr id="16" name="Text 13"/>
          <p:cNvSpPr/>
          <p:nvPr/>
        </p:nvSpPr>
        <p:spPr>
          <a:xfrm>
            <a:off x="6261646" y="3022300"/>
            <a:ext cx="2752665" cy="447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C5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Relations, constraints, triggers</a:t>
            </a:r>
            <a:endParaRPr lang="en-US" sz="1300" dirty="0"/>
          </a:p>
          <a:p>
            <a:pPr algn="l" indent="0" marL="0">
              <a:lnSpc>
                <a:spcPts val="1685"/>
              </a:lnSpc>
              <a:buNone/>
            </a:pPr>
            <a:r>
              <a:rPr lang="en-US" sz="1300" dirty="0">
                <a:solidFill>
                  <a:srgbClr val="C5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reporting views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7688" y="4418707"/>
            <a:ext cx="8048625" cy="4763"/>
          </a:xfrm>
          <a:prstGeom prst="rect">
            <a:avLst/>
          </a:prstGeom>
          <a:solidFill>
            <a:srgbClr val="E7EAE9">
              <a:alpha val="2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548580" y="4524226"/>
            <a:ext cx="539410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Catalogue → stock → order → payment / shipment → return → reports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416198"/>
            <a:ext cx="26635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20" b="1" spc="156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CORE MODELLING CHOICE</a:t>
            </a:r>
            <a:endParaRPr lang="en-US" sz="1120" dirty="0"/>
          </a:p>
        </p:txBody>
      </p:sp>
      <p:sp>
        <p:nvSpPr>
          <p:cNvPr id="4" name="Text 1"/>
          <p:cNvSpPr/>
          <p:nvPr/>
        </p:nvSpPr>
        <p:spPr>
          <a:xfrm>
            <a:off x="548580" y="739229"/>
            <a:ext cx="9089410" cy="4905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607"/>
              </a:spcBef>
              <a:buNone/>
            </a:pPr>
            <a:r>
              <a:rPr lang="en-US" sz="3020" b="1" spc="-151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work can have many sellable editions</a:t>
            </a:r>
            <a:endParaRPr lang="en-US" sz="3020" dirty="0"/>
          </a:p>
        </p:txBody>
      </p:sp>
      <p:sp>
        <p:nvSpPr>
          <p:cNvPr id="5" name="Shape 2"/>
          <p:cNvSpPr/>
          <p:nvPr/>
        </p:nvSpPr>
        <p:spPr>
          <a:xfrm>
            <a:off x="549659" y="1790812"/>
            <a:ext cx="3171825" cy="1524000"/>
          </a:xfrm>
          <a:prstGeom prst="rect">
            <a:avLst/>
          </a:prstGeom>
          <a:ln/>
        </p:spPr>
      </p:sp>
      <p:sp>
        <p:nvSpPr>
          <p:cNvPr id="6" name="Text 3"/>
          <p:cNvSpPr/>
          <p:nvPr/>
        </p:nvSpPr>
        <p:spPr>
          <a:xfrm>
            <a:off x="548580" y="1924422"/>
            <a:ext cx="2041542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BOOKS · THE WORK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48580" y="2275284"/>
            <a:ext cx="297690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30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Title + category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48580" y="2783681"/>
            <a:ext cx="3782928" cy="52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8CCC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single literary work, linked to one or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8CCC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more authors.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3698814" y="1973907"/>
            <a:ext cx="1746297" cy="6810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180" dirty="0">
                <a:solidFill>
                  <a:srgbClr val="E1E4E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 → N</a:t>
            </a:r>
            <a:endParaRPr lang="en-US" sz="4180" dirty="0"/>
          </a:p>
        </p:txBody>
      </p:sp>
      <p:sp>
        <p:nvSpPr>
          <p:cNvPr id="10" name="Text 7"/>
          <p:cNvSpPr/>
          <p:nvPr/>
        </p:nvSpPr>
        <p:spPr>
          <a:xfrm>
            <a:off x="4089358" y="2768426"/>
            <a:ext cx="965136" cy="412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74"/>
              </a:lnSpc>
              <a:buNone/>
            </a:pPr>
            <a:r>
              <a:rPr lang="en-US" sz="1120" spc="123" kern="0" dirty="0">
                <a:solidFill>
                  <a:srgbClr val="AFB5B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BOOKS →</a:t>
            </a:r>
            <a:endParaRPr lang="en-US" sz="1120" dirty="0"/>
          </a:p>
          <a:p>
            <a:pPr algn="ctr" indent="0" marL="0">
              <a:lnSpc>
                <a:spcPts val="1674"/>
              </a:lnSpc>
              <a:buNone/>
            </a:pPr>
            <a:r>
              <a:rPr lang="en-US" sz="1120" spc="123" kern="0" dirty="0">
                <a:solidFill>
                  <a:srgbClr val="AFB5B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EDITIONS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5422478" y="1790812"/>
            <a:ext cx="3171825" cy="1524000"/>
          </a:xfrm>
          <a:prstGeom prst="rect">
            <a:avLst/>
          </a:prstGeom>
          <a:ln/>
        </p:spPr>
      </p:sp>
      <p:sp>
        <p:nvSpPr>
          <p:cNvPr id="12" name="Text 9"/>
          <p:cNvSpPr/>
          <p:nvPr/>
        </p:nvSpPr>
        <p:spPr>
          <a:xfrm>
            <a:off x="5421362" y="1924422"/>
            <a:ext cx="2952623" cy="2047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spc="150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EDITIONS · THE STOCK ITEM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421362" y="2275284"/>
            <a:ext cx="2568089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810"/>
              </a:spcBef>
              <a:buNone/>
            </a:pPr>
            <a:r>
              <a:rPr lang="en-US" sz="230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ISBN + format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5421362" y="2783681"/>
            <a:ext cx="4059696" cy="522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8CCC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Publisher, year, price, stock quantity and</a:t>
            </a:r>
            <a:endParaRPr lang="en-US" sz="1440" dirty="0"/>
          </a:p>
          <a:p>
            <a:pPr algn="l" indent="0" marL="0">
              <a:lnSpc>
                <a:spcPts val="2088"/>
              </a:lnSpc>
              <a:buNone/>
            </a:pPr>
            <a:r>
              <a:rPr lang="en-US" sz="1440" dirty="0">
                <a:solidFill>
                  <a:srgbClr val="C8CCC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reorder level.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548580" y="4078337"/>
            <a:ext cx="4596400" cy="44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BOOK_AUTHORS</a:t>
            </a:r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D4D7D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resolves the many-to-many author</a:t>
            </a:r>
            <a:endParaRPr lang="en-US" sz="1260" dirty="0"/>
          </a:p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D4D7D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relationship.</a:t>
            </a:r>
            <a:endParaRPr lang="en-US" sz="1260" dirty="0"/>
          </a:p>
        </p:txBody>
      </p:sp>
      <p:sp>
        <p:nvSpPr>
          <p:cNvPr id="16" name="Text 13"/>
          <p:cNvSpPr/>
          <p:nvPr/>
        </p:nvSpPr>
        <p:spPr>
          <a:xfrm>
            <a:off x="4846290" y="4078337"/>
            <a:ext cx="4740444" cy="447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4"/>
              </a:lnSpc>
              <a:buNone/>
            </a:pPr>
            <a:r>
              <a:rPr lang="en-US" sz="1260" b="1" dirty="0">
                <a:solidFill>
                  <a:srgbClr val="FFFFF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ORDER_ITEMS.unit_price</a:t>
            </a:r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D4D7D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preserves the price charged</a:t>
            </a:r>
            <a:endParaRPr lang="en-US" sz="1260" dirty="0"/>
          </a:p>
          <a:p>
            <a:pPr algn="l" indent="0" marL="0">
              <a:lnSpc>
                <a:spcPts val="1764"/>
              </a:lnSpc>
              <a:buNone/>
            </a:pPr>
            <a:r>
              <a:rPr lang="en-US" sz="1260" dirty="0">
                <a:solidFill>
                  <a:srgbClr val="D4D7D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at sale time.</a:t>
            </a:r>
            <a:endParaRPr lang="en-US" sz="126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659" y="1790812"/>
            <a:ext cx="3171825" cy="1524000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22478" y="1790812"/>
            <a:ext cx="3171825" cy="1524000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101" y="3969916"/>
            <a:ext cx="3748087" cy="557213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46811" y="3969916"/>
            <a:ext cx="3748087" cy="557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890" y="261937"/>
            <a:ext cx="217310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LOGICAL DATA MODEL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02890" y="547613"/>
            <a:ext cx="4562155" cy="3952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450" b="1" spc="-98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Entity relationship model</a:t>
            </a:r>
            <a:endParaRPr lang="en-US" sz="2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47" y="822945"/>
            <a:ext cx="8686800" cy="39604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2890" y="4531147"/>
            <a:ext cx="745937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B7BCB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BOOK_AUTHORS resolves the Books ↔ Authors M:N relationship · PK = primary key · FK = foreign key</a:t>
            </a:r>
            <a:endParaRPr lang="en-US" sz="10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364778"/>
            <a:ext cx="292650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RELATIONAL SCHEMA · 1 OF 2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48580" y="655216"/>
            <a:ext cx="3762807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123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Catalogue schema</a:t>
            </a:r>
            <a:endParaRPr lang="en-US" sz="2740" dirty="0"/>
          </a:p>
        </p:txBody>
      </p:sp>
      <p:sp>
        <p:nvSpPr>
          <p:cNvPr id="5" name="Text 2"/>
          <p:cNvSpPr/>
          <p:nvPr/>
        </p:nvSpPr>
        <p:spPr>
          <a:xfrm>
            <a:off x="548580" y="1204689"/>
            <a:ext cx="6070982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30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Descriptive records stay separate from editions that carry inventory.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580" y="1708770"/>
            <a:ext cx="17393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120" b="1" spc="134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REFERENCE DATA</a:t>
            </a:r>
            <a:endParaRPr lang="en-US" sz="1120" dirty="0"/>
          </a:p>
        </p:txBody>
      </p:sp>
      <p:sp>
        <p:nvSpPr>
          <p:cNvPr id="7" name="Shape 4"/>
          <p:cNvSpPr/>
          <p:nvPr/>
        </p:nvSpPr>
        <p:spPr>
          <a:xfrm>
            <a:off x="547650" y="1968661"/>
            <a:ext cx="3705225" cy="642938"/>
          </a:xfrm>
          <a:prstGeom prst="rect">
            <a:avLst/>
          </a:prstGeom>
          <a:ln/>
        </p:spPr>
      </p:sp>
      <p:sp>
        <p:nvSpPr>
          <p:cNvPr id="8" name="Text 5"/>
          <p:cNvSpPr/>
          <p:nvPr/>
        </p:nvSpPr>
        <p:spPr>
          <a:xfrm>
            <a:off x="548580" y="2074887"/>
            <a:ext cx="128398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580" y="2321123"/>
            <a:ext cx="325609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82"/>
              </a:spcBef>
              <a:buNone/>
            </a:pPr>
            <a:r>
              <a:rPr lang="en-US" sz="112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category_id PK · name UNIQUE NOT NULL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547650" y="2612864"/>
            <a:ext cx="3705225" cy="642938"/>
          </a:xfrm>
          <a:prstGeom prst="rect">
            <a:avLst/>
          </a:prstGeom>
          <a:ln/>
        </p:spPr>
      </p:sp>
      <p:sp>
        <p:nvSpPr>
          <p:cNvPr id="11" name="Text 8"/>
          <p:cNvSpPr/>
          <p:nvPr/>
        </p:nvSpPr>
        <p:spPr>
          <a:xfrm>
            <a:off x="548580" y="2719090"/>
            <a:ext cx="129752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PUBLISHERS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580" y="2965326"/>
            <a:ext cx="386757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82"/>
              </a:spcBef>
              <a:buNone/>
            </a:pPr>
            <a:r>
              <a:rPr lang="en-US" sz="112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publisher_id PK · name UNIQUE NOT NULL · email</a:t>
            </a:r>
            <a:endParaRPr lang="en-US" sz="1120" dirty="0"/>
          </a:p>
        </p:txBody>
      </p:sp>
      <p:sp>
        <p:nvSpPr>
          <p:cNvPr id="13" name="Shape 10"/>
          <p:cNvSpPr/>
          <p:nvPr/>
        </p:nvSpPr>
        <p:spPr>
          <a:xfrm>
            <a:off x="547650" y="3257066"/>
            <a:ext cx="3705225" cy="642938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548580" y="3363292"/>
            <a:ext cx="10092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AUTHORS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48580" y="3609529"/>
            <a:ext cx="3108953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82"/>
              </a:spcBef>
              <a:buNone/>
            </a:pPr>
            <a:r>
              <a:rPr lang="en-US" sz="112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author_id PK · name UNIQUE NOT NULL</a:t>
            </a:r>
            <a:endParaRPr lang="en-US" sz="1120" dirty="0"/>
          </a:p>
        </p:txBody>
      </p:sp>
      <p:sp>
        <p:nvSpPr>
          <p:cNvPr id="16" name="Text 13"/>
          <p:cNvSpPr/>
          <p:nvPr/>
        </p:nvSpPr>
        <p:spPr>
          <a:xfrm>
            <a:off x="4891980" y="1708770"/>
            <a:ext cx="2219444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405"/>
              </a:spcAft>
              <a:buNone/>
            </a:pPr>
            <a:r>
              <a:rPr lang="en-US" sz="1120" b="1" spc="134" kern="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WORKS AND EDITIONS</a:t>
            </a:r>
            <a:endParaRPr lang="en-US" sz="1120" dirty="0"/>
          </a:p>
        </p:txBody>
      </p:sp>
      <p:sp>
        <p:nvSpPr>
          <p:cNvPr id="17" name="Shape 14"/>
          <p:cNvSpPr/>
          <p:nvPr/>
        </p:nvSpPr>
        <p:spPr>
          <a:xfrm>
            <a:off x="4891088" y="1968661"/>
            <a:ext cx="3705225" cy="642938"/>
          </a:xfrm>
          <a:prstGeom prst="rect">
            <a:avLst/>
          </a:prstGeom>
          <a:ln/>
        </p:spPr>
      </p:sp>
      <p:sp>
        <p:nvSpPr>
          <p:cNvPr id="18" name="Text 15"/>
          <p:cNvSpPr/>
          <p:nvPr/>
        </p:nvSpPr>
        <p:spPr>
          <a:xfrm>
            <a:off x="4891980" y="2074887"/>
            <a:ext cx="748925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BOOKS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891980" y="2321123"/>
            <a:ext cx="262506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82"/>
              </a:spcBef>
              <a:buNone/>
            </a:pPr>
            <a:r>
              <a:rPr lang="en-US" sz="112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book_id PK · title · category_id FK</a:t>
            </a:r>
            <a:endParaRPr lang="en-US" sz="1120" dirty="0"/>
          </a:p>
        </p:txBody>
      </p:sp>
      <p:sp>
        <p:nvSpPr>
          <p:cNvPr id="20" name="Shape 17"/>
          <p:cNvSpPr/>
          <p:nvPr/>
        </p:nvSpPr>
        <p:spPr>
          <a:xfrm>
            <a:off x="4891088" y="2612864"/>
            <a:ext cx="3705225" cy="642938"/>
          </a:xfrm>
          <a:prstGeom prst="rect">
            <a:avLst/>
          </a:prstGeom>
          <a:ln/>
        </p:spPr>
      </p:sp>
      <p:sp>
        <p:nvSpPr>
          <p:cNvPr id="21" name="Text 18"/>
          <p:cNvSpPr/>
          <p:nvPr/>
        </p:nvSpPr>
        <p:spPr>
          <a:xfrm>
            <a:off x="4891980" y="2719090"/>
            <a:ext cx="1704990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BOOK_AUTHORS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91980" y="2965326"/>
            <a:ext cx="3461370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82"/>
              </a:spcBef>
              <a:buNone/>
            </a:pPr>
            <a:r>
              <a:rPr lang="en-US" sz="112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book_id + author_id composite PK; both FKs</a:t>
            </a:r>
            <a:endParaRPr lang="en-US" sz="1120" dirty="0"/>
          </a:p>
        </p:txBody>
      </p:sp>
      <p:sp>
        <p:nvSpPr>
          <p:cNvPr id="23" name="Shape 20"/>
          <p:cNvSpPr/>
          <p:nvPr/>
        </p:nvSpPr>
        <p:spPr>
          <a:xfrm>
            <a:off x="4891088" y="3257066"/>
            <a:ext cx="3705225" cy="642938"/>
          </a:xfrm>
          <a:prstGeom prst="rect">
            <a:avLst/>
          </a:prstGeom>
          <a:ln/>
        </p:spPr>
      </p:sp>
      <p:sp>
        <p:nvSpPr>
          <p:cNvPr id="24" name="Text 21"/>
          <p:cNvSpPr/>
          <p:nvPr/>
        </p:nvSpPr>
        <p:spPr>
          <a:xfrm>
            <a:off x="4891980" y="3363292"/>
            <a:ext cx="972004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EDITIONS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4891980" y="3609529"/>
            <a:ext cx="4556061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82"/>
              </a:spcBef>
              <a:buNone/>
            </a:pPr>
            <a:r>
              <a:rPr lang="en-US" sz="112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edition_id PK · book_id FK · publisher_id FK · ISBN UNIQUE</a:t>
            </a:r>
            <a:endParaRPr lang="en-US" sz="1120" dirty="0"/>
          </a:p>
        </p:txBody>
      </p:sp>
      <p:sp>
        <p:nvSpPr>
          <p:cNvPr id="26" name="Text 23"/>
          <p:cNvSpPr/>
          <p:nvPr/>
        </p:nvSpPr>
        <p:spPr>
          <a:xfrm>
            <a:off x="4891980" y="3952844"/>
            <a:ext cx="4251722" cy="373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3"/>
              </a:lnSpc>
              <a:buNone/>
            </a:pPr>
            <a:r>
              <a:rPr lang="en-US" sz="1080" dirty="0">
                <a:solidFill>
                  <a:srgbClr val="B8BDB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Edition attributes: format · edition_no · pub_year · price ·</a:t>
            </a:r>
            <a:endParaRPr lang="en-US" sz="1080" dirty="0"/>
          </a:p>
          <a:p>
            <a:pPr algn="l" indent="0" marL="0">
              <a:lnSpc>
                <a:spcPts val="1403"/>
              </a:lnSpc>
              <a:buNone/>
            </a:pPr>
            <a:r>
              <a:rPr lang="en-US" sz="1080" dirty="0">
                <a:solidFill>
                  <a:srgbClr val="B8BDBC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stock_qty · reorder_level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547613" y="4418707"/>
            <a:ext cx="8048625" cy="4763"/>
          </a:xfrm>
          <a:prstGeom prst="rect">
            <a:avLst/>
          </a:prstGeom>
          <a:solidFill>
            <a:srgbClr val="E7EAE9">
              <a:alpha val="25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548580" y="4531147"/>
            <a:ext cx="5332772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AEB4B3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Primary and foreign keys preserve the links between the catalog tables.</a:t>
            </a:r>
            <a:endParaRPr lang="en-US" sz="108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1968661"/>
            <a:ext cx="3705225" cy="642938"/>
          </a:xfrm>
          <a:prstGeom prst="rect">
            <a:avLst/>
          </a:prstGeom>
        </p:spPr>
      </p:pic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50" y="2612864"/>
            <a:ext cx="3705225" cy="642938"/>
          </a:xfrm>
          <a:prstGeom prst="rect">
            <a:avLst/>
          </a:prstGeom>
        </p:spPr>
      </p:pic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50" y="3257066"/>
            <a:ext cx="3705225" cy="642938"/>
          </a:xfrm>
          <a:prstGeom prst="rect">
            <a:avLst/>
          </a:prstGeom>
        </p:spPr>
      </p:pic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891088" y="1968661"/>
            <a:ext cx="3705225" cy="642938"/>
          </a:xfrm>
          <a:prstGeom prst="rect">
            <a:avLst/>
          </a:prstGeom>
        </p:spPr>
      </p:pic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1088" y="2612864"/>
            <a:ext cx="3705225" cy="642938"/>
          </a:xfrm>
          <a:prstGeom prst="rect">
            <a:avLst/>
          </a:prstGeom>
        </p:spPr>
      </p:pic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91088" y="3257066"/>
            <a:ext cx="3705225" cy="64293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364778"/>
            <a:ext cx="2926504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RELATIONAL SCHEMA · 2 OF 2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48580" y="655216"/>
            <a:ext cx="4068016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123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Transaction schema</a:t>
            </a:r>
            <a:endParaRPr lang="en-US" sz="2740" dirty="0"/>
          </a:p>
        </p:txBody>
      </p:sp>
      <p:sp>
        <p:nvSpPr>
          <p:cNvPr id="5" name="Text 2"/>
          <p:cNvSpPr/>
          <p:nvPr/>
        </p:nvSpPr>
        <p:spPr>
          <a:xfrm>
            <a:off x="548580" y="1204689"/>
            <a:ext cx="620883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30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 headers, line items and lifecycle records use separate relations.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7650" y="1652625"/>
            <a:ext cx="3705225" cy="771525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548580" y="1746498"/>
            <a:ext cx="1243838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CUSTOMERS</a:t>
            </a:r>
            <a:endParaRPr lang="en-US" sz="1240" dirty="0"/>
          </a:p>
        </p:txBody>
      </p:sp>
      <p:sp>
        <p:nvSpPr>
          <p:cNvPr id="8" name="Text 5"/>
          <p:cNvSpPr/>
          <p:nvPr/>
        </p:nvSpPr>
        <p:spPr>
          <a:xfrm>
            <a:off x="548580" y="1975811"/>
            <a:ext cx="4317310" cy="37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customer_id PK · name · email UNIQUE · phone · address ·</a:t>
            </a:r>
            <a:endParaRPr lang="en-US" sz="1080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created_at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547650" y="2424708"/>
            <a:ext cx="3705225" cy="595313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548580" y="2518246"/>
            <a:ext cx="827187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ORDERS</a:t>
            </a:r>
            <a:endParaRPr lang="en-US" sz="1240" dirty="0"/>
          </a:p>
        </p:txBody>
      </p:sp>
      <p:sp>
        <p:nvSpPr>
          <p:cNvPr id="11" name="Text 8"/>
          <p:cNvSpPr/>
          <p:nvPr/>
        </p:nvSpPr>
        <p:spPr>
          <a:xfrm>
            <a:off x="548580" y="2746177"/>
            <a:ext cx="371763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162"/>
              </a:spcBef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order_id PK · customer_id FK · order_date · status</a:t>
            </a:r>
            <a:endParaRPr lang="en-US" sz="1080" dirty="0"/>
          </a:p>
        </p:txBody>
      </p:sp>
      <p:sp>
        <p:nvSpPr>
          <p:cNvPr id="12" name="Shape 9"/>
          <p:cNvSpPr/>
          <p:nvPr/>
        </p:nvSpPr>
        <p:spPr>
          <a:xfrm>
            <a:off x="547650" y="3020578"/>
            <a:ext cx="3705225" cy="771525"/>
          </a:xfrm>
          <a:prstGeom prst="rect">
            <a:avLst/>
          </a:prstGeom>
          <a:ln/>
        </p:spPr>
      </p:sp>
      <p:sp>
        <p:nvSpPr>
          <p:cNvPr id="13" name="Text 10"/>
          <p:cNvSpPr/>
          <p:nvPr/>
        </p:nvSpPr>
        <p:spPr>
          <a:xfrm>
            <a:off x="548580" y="3114452"/>
            <a:ext cx="142019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ORDER_ITEMS</a:t>
            </a:r>
            <a:endParaRPr lang="en-US" sz="1240" dirty="0"/>
          </a:p>
        </p:txBody>
      </p:sp>
      <p:sp>
        <p:nvSpPr>
          <p:cNvPr id="14" name="Text 11"/>
          <p:cNvSpPr/>
          <p:nvPr/>
        </p:nvSpPr>
        <p:spPr>
          <a:xfrm>
            <a:off x="548580" y="3343765"/>
            <a:ext cx="4273391" cy="37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order_item_id PK · order_id FK · edition_id FK · quantity ·</a:t>
            </a:r>
            <a:endParaRPr lang="en-US" sz="1080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unit_price · UNIQUE(order_id, edition_id)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547650" y="3792327"/>
            <a:ext cx="3705225" cy="771525"/>
          </a:xfrm>
          <a:prstGeom prst="rect">
            <a:avLst/>
          </a:prstGeom>
          <a:ln/>
        </p:spPr>
      </p:sp>
      <p:sp>
        <p:nvSpPr>
          <p:cNvPr id="16" name="Text 13"/>
          <p:cNvSpPr/>
          <p:nvPr/>
        </p:nvSpPr>
        <p:spPr>
          <a:xfrm>
            <a:off x="548580" y="3886200"/>
            <a:ext cx="947432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RETURNS</a:t>
            </a:r>
            <a:endParaRPr lang="en-US" sz="1240" dirty="0"/>
          </a:p>
        </p:txBody>
      </p:sp>
      <p:sp>
        <p:nvSpPr>
          <p:cNvPr id="17" name="Text 14"/>
          <p:cNvSpPr/>
          <p:nvPr/>
        </p:nvSpPr>
        <p:spPr>
          <a:xfrm>
            <a:off x="548580" y="4115513"/>
            <a:ext cx="4848017" cy="37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return_id PK · order_item_id FK · quantity · reason · return_date ·</a:t>
            </a:r>
            <a:endParaRPr lang="en-US" sz="1080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refund_amount</a:t>
            </a:r>
            <a:endParaRPr lang="en-US" sz="1080" dirty="0"/>
          </a:p>
        </p:txBody>
      </p:sp>
      <p:sp>
        <p:nvSpPr>
          <p:cNvPr id="18" name="Shape 15"/>
          <p:cNvSpPr/>
          <p:nvPr/>
        </p:nvSpPr>
        <p:spPr>
          <a:xfrm>
            <a:off x="4891088" y="1652625"/>
            <a:ext cx="3705225" cy="771525"/>
          </a:xfrm>
          <a:prstGeom prst="rect">
            <a:avLst/>
          </a:prstGeom>
          <a:ln/>
        </p:spPr>
      </p:sp>
      <p:sp>
        <p:nvSpPr>
          <p:cNvPr id="19" name="Text 16"/>
          <p:cNvSpPr/>
          <p:nvPr/>
        </p:nvSpPr>
        <p:spPr>
          <a:xfrm>
            <a:off x="4891980" y="1746498"/>
            <a:ext cx="1163159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SHIPMENTS</a:t>
            </a:r>
            <a:endParaRPr lang="en-US" sz="1240" dirty="0"/>
          </a:p>
        </p:txBody>
      </p:sp>
      <p:sp>
        <p:nvSpPr>
          <p:cNvPr id="20" name="Text 17"/>
          <p:cNvSpPr/>
          <p:nvPr/>
        </p:nvSpPr>
        <p:spPr>
          <a:xfrm>
            <a:off x="4891980" y="1975811"/>
            <a:ext cx="4548902" cy="37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shipment_id PK · order_id FK UNIQUE · carrier · tracking_no ·</a:t>
            </a:r>
            <a:endParaRPr lang="en-US" sz="1080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shipped_date · delivered_date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4891088" y="2424373"/>
            <a:ext cx="3705225" cy="771525"/>
          </a:xfrm>
          <a:prstGeom prst="rect">
            <a:avLst/>
          </a:prstGeom>
          <a:ln/>
        </p:spPr>
      </p:sp>
      <p:sp>
        <p:nvSpPr>
          <p:cNvPr id="22" name="Text 19"/>
          <p:cNvSpPr/>
          <p:nvPr/>
        </p:nvSpPr>
        <p:spPr>
          <a:xfrm>
            <a:off x="4891980" y="2518246"/>
            <a:ext cx="10819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PAYMENTS</a:t>
            </a:r>
            <a:endParaRPr lang="en-US" sz="1240" dirty="0"/>
          </a:p>
        </p:txBody>
      </p:sp>
      <p:sp>
        <p:nvSpPr>
          <p:cNvPr id="23" name="Text 20"/>
          <p:cNvSpPr/>
          <p:nvPr/>
        </p:nvSpPr>
        <p:spPr>
          <a:xfrm>
            <a:off x="4891980" y="2747559"/>
            <a:ext cx="4863882" cy="37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payment_id PK · order_id FK UNIQUE · amount · method · status ·</a:t>
            </a:r>
            <a:endParaRPr lang="en-US" sz="1080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paid_at</a:t>
            </a:r>
            <a:endParaRPr lang="en-US" sz="1080" dirty="0"/>
          </a:p>
        </p:txBody>
      </p:sp>
      <p:sp>
        <p:nvSpPr>
          <p:cNvPr id="24" name="Shape 21"/>
          <p:cNvSpPr/>
          <p:nvPr/>
        </p:nvSpPr>
        <p:spPr>
          <a:xfrm>
            <a:off x="4891088" y="3196121"/>
            <a:ext cx="3705225" cy="771525"/>
          </a:xfrm>
          <a:prstGeom prst="rect">
            <a:avLst/>
          </a:prstGeom>
          <a:ln/>
        </p:spPr>
      </p:sp>
      <p:sp>
        <p:nvSpPr>
          <p:cNvPr id="25" name="Text 22"/>
          <p:cNvSpPr/>
          <p:nvPr/>
        </p:nvSpPr>
        <p:spPr>
          <a:xfrm>
            <a:off x="4891980" y="3289995"/>
            <a:ext cx="930116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F1F3F2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INVOICES</a:t>
            </a:r>
            <a:endParaRPr lang="en-US" sz="1240" dirty="0"/>
          </a:p>
        </p:txBody>
      </p:sp>
      <p:sp>
        <p:nvSpPr>
          <p:cNvPr id="26" name="Text 23"/>
          <p:cNvSpPr/>
          <p:nvPr/>
        </p:nvSpPr>
        <p:spPr>
          <a:xfrm>
            <a:off x="4891980" y="3519307"/>
            <a:ext cx="4329983" cy="370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invoice_id PK · order_id FK UNIQUE · invoice_no UNIQUE ·</a:t>
            </a:r>
            <a:endParaRPr lang="en-US" sz="1080" dirty="0"/>
          </a:p>
          <a:p>
            <a:pPr algn="l" indent="0" marL="0">
              <a:lnSpc>
                <a:spcPts val="1382"/>
              </a:lnSpc>
              <a:buNone/>
            </a:pPr>
            <a:r>
              <a:rPr lang="en-US" sz="108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issued_at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4891088" y="4172248"/>
            <a:ext cx="3705225" cy="747712"/>
          </a:xfrm>
          <a:prstGeom prst="rect">
            <a:avLst/>
          </a:prstGeom>
          <a:ln/>
        </p:spPr>
      </p:sp>
      <p:sp>
        <p:nvSpPr>
          <p:cNvPr id="28" name="Text 25"/>
          <p:cNvSpPr/>
          <p:nvPr/>
        </p:nvSpPr>
        <p:spPr>
          <a:xfrm>
            <a:off x="4891980" y="4285804"/>
            <a:ext cx="3365116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EDF0EF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One order line keeps its sale-time price.</a:t>
            </a:r>
            <a:endParaRPr lang="en-US" sz="1190" dirty="0"/>
          </a:p>
        </p:txBody>
      </p:sp>
      <p:sp>
        <p:nvSpPr>
          <p:cNvPr id="29" name="Text 26"/>
          <p:cNvSpPr/>
          <p:nvPr/>
        </p:nvSpPr>
        <p:spPr>
          <a:xfrm>
            <a:off x="4891980" y="4538960"/>
            <a:ext cx="4230826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BDC2C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Current edition pricing can change without rewriting the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BDC2C1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transaction.</a:t>
            </a:r>
            <a:endParaRPr lang="en-US" sz="108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650" y="1652625"/>
            <a:ext cx="3705225" cy="771525"/>
          </a:xfrm>
          <a:prstGeom prst="rect">
            <a:avLst/>
          </a:prstGeom>
        </p:spPr>
      </p:pic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650" y="2424708"/>
            <a:ext cx="3705225" cy="595313"/>
          </a:xfrm>
          <a:prstGeom prst="rect">
            <a:avLst/>
          </a:prstGeom>
        </p:spPr>
      </p:pic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7650" y="3020578"/>
            <a:ext cx="3705225" cy="771525"/>
          </a:xfrm>
          <a:prstGeom prst="rect">
            <a:avLst/>
          </a:prstGeom>
        </p:spPr>
      </p:pic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650" y="3792327"/>
            <a:ext cx="3705225" cy="771525"/>
          </a:xfrm>
          <a:prstGeom prst="rect">
            <a:avLst/>
          </a:prstGeom>
        </p:spPr>
      </p:pic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891088" y="1652625"/>
            <a:ext cx="3705225" cy="771525"/>
          </a:xfrm>
          <a:prstGeom prst="rect">
            <a:avLst/>
          </a:prstGeom>
        </p:spPr>
      </p:pic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91088" y="2424373"/>
            <a:ext cx="3705225" cy="771525"/>
          </a:xfrm>
          <a:prstGeom prst="rect">
            <a:avLst/>
          </a:prstGeom>
        </p:spPr>
      </p:pic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891088" y="3196121"/>
            <a:ext cx="3705225" cy="771525"/>
          </a:xfrm>
          <a:prstGeom prst="rect">
            <a:avLst/>
          </a:prstGeom>
        </p:spPr>
      </p:pic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891088" y="4172248"/>
            <a:ext cx="3705225" cy="7477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364778"/>
            <a:ext cx="2092427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BEHAVIOR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48580" y="655216"/>
            <a:ext cx="5692155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123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Integrity rules and reporting</a:t>
            </a:r>
            <a:endParaRPr lang="en-US" sz="2740" dirty="0"/>
          </a:p>
        </p:txBody>
      </p:sp>
      <p:sp>
        <p:nvSpPr>
          <p:cNvPr id="5" name="Text 2"/>
          <p:cNvSpPr/>
          <p:nvPr/>
        </p:nvSpPr>
        <p:spPr>
          <a:xfrm>
            <a:off x="548580" y="1451595"/>
            <a:ext cx="17020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90" b="1" spc="131" kern="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FOUR TRIGGERS</a:t>
            </a:r>
            <a:endParaRPr lang="en-US" sz="1190" dirty="0"/>
          </a:p>
        </p:txBody>
      </p:sp>
      <p:sp>
        <p:nvSpPr>
          <p:cNvPr id="6" name="Shape 3"/>
          <p:cNvSpPr/>
          <p:nvPr/>
        </p:nvSpPr>
        <p:spPr>
          <a:xfrm>
            <a:off x="549734" y="1776822"/>
            <a:ext cx="3371850" cy="819150"/>
          </a:xfrm>
          <a:prstGeom prst="rect">
            <a:avLst/>
          </a:prstGeom>
          <a:ln/>
        </p:spPr>
      </p:sp>
      <p:sp>
        <p:nvSpPr>
          <p:cNvPr id="7" name="Text 4"/>
          <p:cNvSpPr/>
          <p:nvPr/>
        </p:nvSpPr>
        <p:spPr>
          <a:xfrm>
            <a:off x="548580" y="1887662"/>
            <a:ext cx="3057875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Stock check → stock deduction</a:t>
            </a:r>
            <a:endParaRPr lang="en-US" sz="1190" dirty="0"/>
          </a:p>
        </p:txBody>
      </p:sp>
      <p:sp>
        <p:nvSpPr>
          <p:cNvPr id="8" name="Text 5"/>
          <p:cNvSpPr/>
          <p:nvPr/>
        </p:nvSpPr>
        <p:spPr>
          <a:xfrm>
            <a:off x="548580" y="2126490"/>
            <a:ext cx="4203836" cy="384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1"/>
              </a:lnSpc>
              <a:buNone/>
            </a:pPr>
            <a:r>
              <a:rPr lang="en-US" sz="11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Rejects physical order quantities above stock; deducts</a:t>
            </a:r>
            <a:endParaRPr lang="en-US" sz="1120" dirty="0"/>
          </a:p>
          <a:p>
            <a:pPr algn="l" indent="0" marL="0">
              <a:lnSpc>
                <a:spcPts val="1451"/>
              </a:lnSpc>
              <a:buNone/>
            </a:pPr>
            <a:r>
              <a:rPr lang="en-US" sz="11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accepted units.</a:t>
            </a:r>
            <a:endParaRPr lang="en-US" sz="1120" dirty="0"/>
          </a:p>
        </p:txBody>
      </p:sp>
      <p:sp>
        <p:nvSpPr>
          <p:cNvPr id="9" name="Shape 6"/>
          <p:cNvSpPr/>
          <p:nvPr/>
        </p:nvSpPr>
        <p:spPr>
          <a:xfrm>
            <a:off x="549734" y="2597534"/>
            <a:ext cx="3371850" cy="819150"/>
          </a:xfrm>
          <a:prstGeom prst="rect">
            <a:avLst/>
          </a:prstGeom>
          <a:ln/>
        </p:spPr>
      </p:sp>
      <p:sp>
        <p:nvSpPr>
          <p:cNvPr id="10" name="Text 7"/>
          <p:cNvSpPr/>
          <p:nvPr/>
        </p:nvSpPr>
        <p:spPr>
          <a:xfrm>
            <a:off x="548580" y="2708374"/>
            <a:ext cx="2495051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Return rules → restocking</a:t>
            </a:r>
            <a:endParaRPr lang="en-US" sz="1190" dirty="0"/>
          </a:p>
        </p:txBody>
      </p:sp>
      <p:sp>
        <p:nvSpPr>
          <p:cNvPr id="11" name="Text 8"/>
          <p:cNvSpPr/>
          <p:nvPr/>
        </p:nvSpPr>
        <p:spPr>
          <a:xfrm>
            <a:off x="548580" y="2947203"/>
            <a:ext cx="4224442" cy="384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1"/>
              </a:lnSpc>
              <a:buNone/>
            </a:pPr>
            <a:r>
              <a:rPr lang="en-US" sz="11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Delivered only · 30-day window · no digital items · caps</a:t>
            </a:r>
            <a:endParaRPr lang="en-US" sz="1120" dirty="0"/>
          </a:p>
          <a:p>
            <a:pPr algn="l" indent="0" marL="0">
              <a:lnSpc>
                <a:spcPts val="1451"/>
              </a:lnSpc>
              <a:buNone/>
            </a:pPr>
            <a:r>
              <a:rPr lang="en-US" sz="11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quantity and refund.</a:t>
            </a:r>
            <a:endParaRPr lang="en-US" sz="1120" dirty="0"/>
          </a:p>
        </p:txBody>
      </p:sp>
      <p:sp>
        <p:nvSpPr>
          <p:cNvPr id="12" name="Text 9"/>
          <p:cNvSpPr/>
          <p:nvPr/>
        </p:nvSpPr>
        <p:spPr>
          <a:xfrm>
            <a:off x="4471318" y="1451595"/>
            <a:ext cx="2337852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Aft>
                <a:spcPts val="810"/>
              </a:spcAft>
              <a:buNone/>
            </a:pPr>
            <a:r>
              <a:rPr lang="en-US" sz="1190" b="1" spc="131" kern="0" dirty="0">
                <a:solidFill>
                  <a:srgbClr val="C4C9C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SIX REPORTING VIEWS</a:t>
            </a:r>
            <a:endParaRPr lang="en-US" sz="1190" dirty="0"/>
          </a:p>
        </p:txBody>
      </p:sp>
      <p:sp>
        <p:nvSpPr>
          <p:cNvPr id="13" name="Shape 10"/>
          <p:cNvSpPr/>
          <p:nvPr/>
        </p:nvSpPr>
        <p:spPr>
          <a:xfrm>
            <a:off x="4471727" y="1776338"/>
            <a:ext cx="1924050" cy="614363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4471318" y="1874788"/>
            <a:ext cx="1733915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v_order_summary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471318" y="2110383"/>
            <a:ext cx="1789249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Items, units, order total</a:t>
            </a:r>
            <a:endParaRPr lang="en-US" sz="1080" dirty="0"/>
          </a:p>
        </p:txBody>
      </p:sp>
      <p:sp>
        <p:nvSpPr>
          <p:cNvPr id="16" name="Shape 13"/>
          <p:cNvSpPr/>
          <p:nvPr/>
        </p:nvSpPr>
        <p:spPr>
          <a:xfrm>
            <a:off x="6670923" y="1776338"/>
            <a:ext cx="1924050" cy="614363"/>
          </a:xfrm>
          <a:prstGeom prst="rect">
            <a:avLst/>
          </a:prstGeom>
          <a:ln/>
        </p:spPr>
      </p:sp>
      <p:sp>
        <p:nvSpPr>
          <p:cNvPr id="17" name="Text 14"/>
          <p:cNvSpPr/>
          <p:nvPr/>
        </p:nvSpPr>
        <p:spPr>
          <a:xfrm>
            <a:off x="6670477" y="1874788"/>
            <a:ext cx="149381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v_stock_report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670477" y="2110383"/>
            <a:ext cx="1697251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OUT / LOW / OK status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4471727" y="2391296"/>
            <a:ext cx="1924050" cy="614363"/>
          </a:xfrm>
          <a:prstGeom prst="rect">
            <a:avLst/>
          </a:prstGeom>
          <a:ln/>
        </p:spPr>
      </p:sp>
      <p:sp>
        <p:nvSpPr>
          <p:cNvPr id="20" name="Text 17"/>
          <p:cNvSpPr/>
          <p:nvPr/>
        </p:nvSpPr>
        <p:spPr>
          <a:xfrm>
            <a:off x="4471318" y="2489746"/>
            <a:ext cx="1704216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v_category_sales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471318" y="2725341"/>
            <a:ext cx="140781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Units and revenue</a:t>
            </a:r>
            <a:endParaRPr lang="en-US" sz="1080" dirty="0"/>
          </a:p>
        </p:txBody>
      </p:sp>
      <p:sp>
        <p:nvSpPr>
          <p:cNvPr id="22" name="Shape 19"/>
          <p:cNvSpPr/>
          <p:nvPr/>
        </p:nvSpPr>
        <p:spPr>
          <a:xfrm>
            <a:off x="6670923" y="2391296"/>
            <a:ext cx="1924050" cy="614363"/>
          </a:xfrm>
          <a:prstGeom prst="rect">
            <a:avLst/>
          </a:prstGeom>
          <a:ln/>
        </p:spPr>
      </p:sp>
      <p:sp>
        <p:nvSpPr>
          <p:cNvPr id="23" name="Text 20"/>
          <p:cNvSpPr/>
          <p:nvPr/>
        </p:nvSpPr>
        <p:spPr>
          <a:xfrm>
            <a:off x="6670477" y="2489746"/>
            <a:ext cx="148462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v_author_sales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6670477" y="2725341"/>
            <a:ext cx="140781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Units and revenue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4471727" y="3006254"/>
            <a:ext cx="1924050" cy="614363"/>
          </a:xfrm>
          <a:prstGeom prst="rect">
            <a:avLst/>
          </a:prstGeom>
          <a:ln/>
        </p:spPr>
      </p:sp>
      <p:sp>
        <p:nvSpPr>
          <p:cNvPr id="26" name="Text 23"/>
          <p:cNvSpPr/>
          <p:nvPr/>
        </p:nvSpPr>
        <p:spPr>
          <a:xfrm>
            <a:off x="4471318" y="3104704"/>
            <a:ext cx="1665327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v_popular_books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4471318" y="3340298"/>
            <a:ext cx="197895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Ranked by units / revenue</a:t>
            </a:r>
            <a:endParaRPr lang="en-US" sz="1080" dirty="0"/>
          </a:p>
        </p:txBody>
      </p:sp>
      <p:sp>
        <p:nvSpPr>
          <p:cNvPr id="28" name="Shape 25"/>
          <p:cNvSpPr/>
          <p:nvPr/>
        </p:nvSpPr>
        <p:spPr>
          <a:xfrm>
            <a:off x="6670923" y="3006254"/>
            <a:ext cx="1924050" cy="614363"/>
          </a:xfrm>
          <a:prstGeom prst="rect">
            <a:avLst/>
          </a:prstGeom>
          <a:ln/>
        </p:spPr>
      </p:sp>
      <p:sp>
        <p:nvSpPr>
          <p:cNvPr id="29" name="Text 26"/>
          <p:cNvSpPr/>
          <p:nvPr/>
        </p:nvSpPr>
        <p:spPr>
          <a:xfrm>
            <a:off x="6670477" y="3104704"/>
            <a:ext cx="1927198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v_customer_history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6670477" y="3340298"/>
            <a:ext cx="202974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203"/>
              </a:spcBef>
              <a:buNone/>
            </a:pPr>
            <a:r>
              <a:rPr lang="en-US" sz="108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Orders, spend, latest order</a:t>
            </a:r>
            <a:endParaRPr lang="en-US" sz="108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734" y="1776822"/>
            <a:ext cx="3371850" cy="819150"/>
          </a:xfrm>
          <a:prstGeom prst="rect">
            <a:avLst/>
          </a:prstGeom>
        </p:spPr>
      </p:pic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734" y="2597534"/>
            <a:ext cx="3371850" cy="819150"/>
          </a:xfrm>
          <a:prstGeom prst="rect">
            <a:avLst/>
          </a:prstGeom>
        </p:spPr>
      </p:pic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71727" y="1776338"/>
            <a:ext cx="1924050" cy="614363"/>
          </a:xfrm>
          <a:prstGeom prst="rect">
            <a:avLst/>
          </a:prstGeom>
        </p:spPr>
      </p:pic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70923" y="1776338"/>
            <a:ext cx="1924050" cy="614363"/>
          </a:xfrm>
          <a:prstGeom prst="rect">
            <a:avLst/>
          </a:prstGeom>
        </p:spPr>
      </p:pic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471727" y="2391296"/>
            <a:ext cx="1924050" cy="614363"/>
          </a:xfrm>
          <a:prstGeom prst="rect">
            <a:avLst/>
          </a:prstGeom>
        </p:spPr>
      </p:pic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70923" y="2391296"/>
            <a:ext cx="1924050" cy="614363"/>
          </a:xfrm>
          <a:prstGeom prst="rect">
            <a:avLst/>
          </a:prstGeom>
        </p:spPr>
      </p:pic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71727" y="3006254"/>
            <a:ext cx="1924050" cy="614363"/>
          </a:xfrm>
          <a:prstGeom prst="rect">
            <a:avLst/>
          </a:prstGeom>
        </p:spPr>
      </p:pic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70923" y="3006254"/>
            <a:ext cx="1924050" cy="6143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364778"/>
            <a:ext cx="496507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VERIFICATION SNAPSHOT · REPORT SCREENSHOTS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48580" y="655216"/>
            <a:ext cx="5414323" cy="4429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2740" b="1" spc="-123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Sample database evidence</a:t>
            </a:r>
            <a:endParaRPr lang="en-US" sz="274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25" y="1447763"/>
            <a:ext cx="3986213" cy="24669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580" y="3992389"/>
            <a:ext cx="3789990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567"/>
              </a:spcBef>
              <a:buNone/>
            </a:pPr>
            <a:r>
              <a:rPr lang="en-US" sz="1080" dirty="0">
                <a:solidFill>
                  <a:srgbClr val="ADB3B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Information-schema output captured in the report</a:t>
            </a:r>
            <a:endParaRPr lang="en-US" sz="1080" dirty="0"/>
          </a:p>
        </p:txBody>
      </p:sp>
      <p:sp>
        <p:nvSpPr>
          <p:cNvPr id="7" name="Shape 3"/>
          <p:cNvSpPr/>
          <p:nvPr/>
        </p:nvSpPr>
        <p:spPr>
          <a:xfrm>
            <a:off x="4990467" y="1447688"/>
            <a:ext cx="1619250" cy="838200"/>
          </a:xfrm>
          <a:prstGeom prst="rect">
            <a:avLst/>
          </a:prstGeom>
          <a:ln/>
        </p:spPr>
      </p:sp>
      <p:sp>
        <p:nvSpPr>
          <p:cNvPr id="8" name="Text 4"/>
          <p:cNvSpPr/>
          <p:nvPr/>
        </p:nvSpPr>
        <p:spPr>
          <a:xfrm>
            <a:off x="4990281" y="1458441"/>
            <a:ext cx="706748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</a:t>
            </a:r>
            <a:endParaRPr lang="en-US" sz="3740" dirty="0"/>
          </a:p>
        </p:txBody>
      </p:sp>
      <p:sp>
        <p:nvSpPr>
          <p:cNvPr id="9" name="Text 5"/>
          <p:cNvSpPr/>
          <p:nvPr/>
        </p:nvSpPr>
        <p:spPr>
          <a:xfrm>
            <a:off x="4990281" y="2056805"/>
            <a:ext cx="1006926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220" dirty="0">
                <a:solidFill>
                  <a:srgbClr val="C3C8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base tables</a:t>
            </a:r>
            <a:endParaRPr lang="en-US" sz="1220" dirty="0"/>
          </a:p>
        </p:txBody>
      </p:sp>
      <p:sp>
        <p:nvSpPr>
          <p:cNvPr id="10" name="Shape 6"/>
          <p:cNvSpPr/>
          <p:nvPr/>
        </p:nvSpPr>
        <p:spPr>
          <a:xfrm>
            <a:off x="6975872" y="1447688"/>
            <a:ext cx="1619250" cy="838200"/>
          </a:xfrm>
          <a:prstGeom prst="rect">
            <a:avLst/>
          </a:prstGeom>
          <a:ln/>
        </p:spPr>
      </p:sp>
      <p:sp>
        <p:nvSpPr>
          <p:cNvPr id="11" name="Text 7"/>
          <p:cNvSpPr/>
          <p:nvPr/>
        </p:nvSpPr>
        <p:spPr>
          <a:xfrm>
            <a:off x="6975649" y="1458441"/>
            <a:ext cx="730932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3740" dirty="0"/>
          </a:p>
        </p:txBody>
      </p:sp>
      <p:sp>
        <p:nvSpPr>
          <p:cNvPr id="12" name="Text 8"/>
          <p:cNvSpPr/>
          <p:nvPr/>
        </p:nvSpPr>
        <p:spPr>
          <a:xfrm>
            <a:off x="6975649" y="2056805"/>
            <a:ext cx="129956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220" dirty="0">
                <a:solidFill>
                  <a:srgbClr val="C3C8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customer rows</a:t>
            </a:r>
            <a:endParaRPr lang="en-US" sz="1220" dirty="0"/>
          </a:p>
        </p:txBody>
      </p:sp>
      <p:sp>
        <p:nvSpPr>
          <p:cNvPr id="13" name="Shape 9"/>
          <p:cNvSpPr/>
          <p:nvPr/>
        </p:nvSpPr>
        <p:spPr>
          <a:xfrm>
            <a:off x="4990467" y="2541650"/>
            <a:ext cx="1619250" cy="838200"/>
          </a:xfrm>
          <a:prstGeom prst="rect">
            <a:avLst/>
          </a:prstGeom>
          <a:ln/>
        </p:spPr>
      </p:sp>
      <p:sp>
        <p:nvSpPr>
          <p:cNvPr id="14" name="Text 10"/>
          <p:cNvSpPr/>
          <p:nvPr/>
        </p:nvSpPr>
        <p:spPr>
          <a:xfrm>
            <a:off x="4990281" y="2552402"/>
            <a:ext cx="675308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3740" dirty="0"/>
          </a:p>
        </p:txBody>
      </p:sp>
      <p:sp>
        <p:nvSpPr>
          <p:cNvPr id="15" name="Text 11"/>
          <p:cNvSpPr/>
          <p:nvPr/>
        </p:nvSpPr>
        <p:spPr>
          <a:xfrm>
            <a:off x="4990281" y="3150766"/>
            <a:ext cx="110414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220" dirty="0">
                <a:solidFill>
                  <a:srgbClr val="C3C8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edition rows</a:t>
            </a:r>
            <a:endParaRPr lang="en-US" sz="1220" dirty="0"/>
          </a:p>
        </p:txBody>
      </p:sp>
      <p:sp>
        <p:nvSpPr>
          <p:cNvPr id="16" name="Shape 12"/>
          <p:cNvSpPr/>
          <p:nvPr/>
        </p:nvSpPr>
        <p:spPr>
          <a:xfrm>
            <a:off x="6975872" y="2541650"/>
            <a:ext cx="1619250" cy="838200"/>
          </a:xfrm>
          <a:prstGeom prst="rect">
            <a:avLst/>
          </a:prstGeom>
          <a:ln/>
        </p:spPr>
      </p:sp>
      <p:sp>
        <p:nvSpPr>
          <p:cNvPr id="17" name="Text 13"/>
          <p:cNvSpPr/>
          <p:nvPr/>
        </p:nvSpPr>
        <p:spPr>
          <a:xfrm>
            <a:off x="6975649" y="2552402"/>
            <a:ext cx="675308" cy="6048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37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17</a:t>
            </a:r>
            <a:endParaRPr lang="en-US" sz="3740" dirty="0"/>
          </a:p>
        </p:txBody>
      </p:sp>
      <p:sp>
        <p:nvSpPr>
          <p:cNvPr id="18" name="Text 14"/>
          <p:cNvSpPr/>
          <p:nvPr/>
        </p:nvSpPr>
        <p:spPr>
          <a:xfrm>
            <a:off x="6975649" y="3150766"/>
            <a:ext cx="964168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1220" dirty="0">
                <a:solidFill>
                  <a:srgbClr val="C3C8C7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order rows</a:t>
            </a:r>
            <a:endParaRPr lang="en-US" sz="1220" dirty="0"/>
          </a:p>
        </p:txBody>
      </p:sp>
      <p:sp>
        <p:nvSpPr>
          <p:cNvPr id="19" name="Text 15"/>
          <p:cNvSpPr/>
          <p:nvPr/>
        </p:nvSpPr>
        <p:spPr>
          <a:xfrm>
            <a:off x="4990281" y="3626793"/>
            <a:ext cx="4316827" cy="565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AFB5B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Additional screenshots show 8 publishers, 19 authors and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AFB5B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7 categories. Counts describe the report’s sample</a:t>
            </a:r>
            <a:endParaRPr lang="en-US" sz="1080" dirty="0"/>
          </a:p>
          <a:p>
            <a:pPr algn="l" indent="0" marL="0">
              <a:lnSpc>
                <a:spcPts val="1458"/>
              </a:lnSpc>
              <a:buNone/>
            </a:pPr>
            <a:r>
              <a:rPr lang="en-US" sz="1080" dirty="0">
                <a:solidFill>
                  <a:srgbClr val="AFB5B4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database at capture time.</a:t>
            </a:r>
            <a:endParaRPr lang="en-US" sz="108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0467" y="1447688"/>
            <a:ext cx="1619250" cy="838200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75872" y="1447688"/>
            <a:ext cx="1619250" cy="83820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90467" y="2541650"/>
            <a:ext cx="1619250" cy="838200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75872" y="2541650"/>
            <a:ext cx="1619250" cy="838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313358"/>
            <a:ext cx="4181006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INTERFACE EVIDENCE · FROM THE REPORT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48580" y="588690"/>
            <a:ext cx="3882762" cy="4333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324"/>
              </a:spcBef>
              <a:buNone/>
            </a:pPr>
            <a:r>
              <a:rPr lang="en-US" sz="2660" b="1" spc="-120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Application screens</a:t>
            </a:r>
            <a:endParaRPr lang="en-US" sz="266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134" y="1422871"/>
            <a:ext cx="3795712" cy="20574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580" y="3546723"/>
            <a:ext cx="3178701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E6E9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Catalogue · editions, price and stock</a:t>
            </a:r>
            <a:endParaRPr lang="en-US" sz="122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154" y="1422871"/>
            <a:ext cx="3795712" cy="20574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800600" y="3546723"/>
            <a:ext cx="3247772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86"/>
              </a:spcBef>
              <a:buNone/>
            </a:pPr>
            <a:r>
              <a:rPr lang="en-US" sz="1220" b="1" dirty="0">
                <a:solidFill>
                  <a:srgbClr val="E6E9E8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Reports · category and monthly sales</a:t>
            </a:r>
            <a:endParaRPr lang="en-US" sz="12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580" y="416198"/>
            <a:ext cx="1327033" cy="1952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080" b="1" spc="151" kern="0" dirty="0">
                <a:solidFill>
                  <a:srgbClr val="B9BFBE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CONCLUSION</a:t>
            </a:r>
            <a:endParaRPr lang="en-US" sz="1080" dirty="0"/>
          </a:p>
        </p:txBody>
      </p:sp>
      <p:sp>
        <p:nvSpPr>
          <p:cNvPr id="4" name="Text 1"/>
          <p:cNvSpPr/>
          <p:nvPr/>
        </p:nvSpPr>
        <p:spPr>
          <a:xfrm>
            <a:off x="548580" y="620911"/>
            <a:ext cx="6013132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58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relational foundation for</a:t>
            </a:r>
            <a:endParaRPr lang="en-US" sz="3170" dirty="0"/>
          </a:p>
        </p:txBody>
      </p:sp>
      <p:sp>
        <p:nvSpPr>
          <p:cNvPr id="5" name="Text 2"/>
          <p:cNvSpPr/>
          <p:nvPr/>
        </p:nvSpPr>
        <p:spPr>
          <a:xfrm>
            <a:off x="548580" y="1043360"/>
            <a:ext cx="497764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spcBef>
                <a:spcPts val="405"/>
              </a:spcBef>
              <a:buNone/>
            </a:pPr>
            <a:r>
              <a:rPr lang="en-US" sz="3170" b="1" spc="-158" kern="0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bookstore operations</a:t>
            </a:r>
            <a:endParaRPr lang="en-US" sz="3170" dirty="0"/>
          </a:p>
        </p:txBody>
      </p:sp>
      <p:sp>
        <p:nvSpPr>
          <p:cNvPr id="6" name="Text 3"/>
          <p:cNvSpPr/>
          <p:nvPr/>
        </p:nvSpPr>
        <p:spPr>
          <a:xfrm>
            <a:off x="548580" y="1626915"/>
            <a:ext cx="8044733" cy="513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6CAC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model connects catalogue and inventory records to customer orders, returns</a:t>
            </a:r>
            <a:endParaRPr lang="en-US" sz="1440" dirty="0"/>
          </a:p>
          <a:p>
            <a:pPr algn="l" indent="0" marL="0">
              <a:lnSpc>
                <a:spcPts val="2016"/>
              </a:lnSpc>
              <a:buNone/>
            </a:pPr>
            <a:r>
              <a:rPr lang="en-US" sz="1440" dirty="0">
                <a:solidFill>
                  <a:srgbClr val="C6CAC9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and reusable reporting.</a:t>
            </a:r>
            <a:endParaRPr lang="en-US" sz="1440" dirty="0"/>
          </a:p>
        </p:txBody>
      </p:sp>
      <p:sp>
        <p:nvSpPr>
          <p:cNvPr id="7" name="Shape 4"/>
          <p:cNvSpPr/>
          <p:nvPr/>
        </p:nvSpPr>
        <p:spPr>
          <a:xfrm>
            <a:off x="548580" y="2503736"/>
            <a:ext cx="2438400" cy="842963"/>
          </a:xfrm>
          <a:prstGeom prst="rect">
            <a:avLst/>
          </a:prstGeom>
          <a:ln/>
        </p:spPr>
      </p:sp>
      <p:sp>
        <p:nvSpPr>
          <p:cNvPr id="8" name="Text 5"/>
          <p:cNvSpPr/>
          <p:nvPr/>
        </p:nvSpPr>
        <p:spPr>
          <a:xfrm>
            <a:off x="548580" y="2620194"/>
            <a:ext cx="1769514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 control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548580" y="2922166"/>
            <a:ext cx="2983967" cy="42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authentication and role-based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permissions.</a:t>
            </a:r>
            <a:endParaRPr lang="en-US" sz="1220" dirty="0"/>
          </a:p>
        </p:txBody>
      </p:sp>
      <p:sp>
        <p:nvSpPr>
          <p:cNvPr id="10" name="Shape 7"/>
          <p:cNvSpPr/>
          <p:nvPr/>
        </p:nvSpPr>
        <p:spPr>
          <a:xfrm>
            <a:off x="3352763" y="2503736"/>
            <a:ext cx="2438400" cy="842963"/>
          </a:xfrm>
          <a:prstGeom prst="rect">
            <a:avLst/>
          </a:prstGeom>
          <a:ln/>
        </p:spPr>
      </p:sp>
      <p:sp>
        <p:nvSpPr>
          <p:cNvPr id="11" name="Text 8"/>
          <p:cNvSpPr/>
          <p:nvPr/>
        </p:nvSpPr>
        <p:spPr>
          <a:xfrm>
            <a:off x="3352726" y="2620194"/>
            <a:ext cx="1664360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Test coverage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3352726" y="2922166"/>
            <a:ext cx="3029143" cy="42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Exercise stock, returns, refunds and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transaction failures.</a:t>
            </a:r>
            <a:endParaRPr lang="en-US" sz="1220" dirty="0"/>
          </a:p>
        </p:txBody>
      </p:sp>
      <p:sp>
        <p:nvSpPr>
          <p:cNvPr id="13" name="Shape 10"/>
          <p:cNvSpPr/>
          <p:nvPr/>
        </p:nvSpPr>
        <p:spPr>
          <a:xfrm>
            <a:off x="6156982" y="2503736"/>
            <a:ext cx="2438400" cy="842963"/>
          </a:xfrm>
          <a:prstGeom prst="rect">
            <a:avLst/>
          </a:prstGeom>
          <a:ln/>
        </p:spPr>
      </p:sp>
      <p:sp>
        <p:nvSpPr>
          <p:cNvPr id="14" name="Text 11"/>
          <p:cNvSpPr/>
          <p:nvPr/>
        </p:nvSpPr>
        <p:spPr>
          <a:xfrm>
            <a:off x="6156945" y="2620194"/>
            <a:ext cx="1313297" cy="23336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440" b="1" dirty="0">
                <a:solidFill>
                  <a:srgbClr val="F3F4F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Operations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6156945" y="2922166"/>
            <a:ext cx="2798132" cy="428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Add backups and prepare secure</a:t>
            </a:r>
            <a:endParaRPr lang="en-US" sz="1220" dirty="0"/>
          </a:p>
          <a:p>
            <a:pPr algn="l" indent="0" marL="0">
              <a:lnSpc>
                <a:spcPts val="1652"/>
              </a:lnSpc>
              <a:buNone/>
            </a:pPr>
            <a:r>
              <a:rPr lang="en-US" sz="1220" dirty="0">
                <a:solidFill>
                  <a:srgbClr val="BEC3C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deployment settings.</a:t>
            </a:r>
            <a:endParaRPr lang="en-US" sz="1220" dirty="0"/>
          </a:p>
        </p:txBody>
      </p:sp>
      <p:sp>
        <p:nvSpPr>
          <p:cNvPr id="16" name="Shape 13"/>
          <p:cNvSpPr/>
          <p:nvPr/>
        </p:nvSpPr>
        <p:spPr>
          <a:xfrm>
            <a:off x="547688" y="4398392"/>
            <a:ext cx="8048625" cy="333375"/>
          </a:xfrm>
          <a:prstGeom prst="rect">
            <a:avLst/>
          </a:prstGeom>
          <a:ln/>
        </p:spPr>
      </p:sp>
      <p:sp>
        <p:nvSpPr>
          <p:cNvPr id="17" name="Text 14"/>
          <p:cNvSpPr/>
          <p:nvPr/>
        </p:nvSpPr>
        <p:spPr>
          <a:xfrm>
            <a:off x="548580" y="4510460"/>
            <a:ext cx="688368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190" dirty="0">
                <a:solidFill>
                  <a:srgbClr val="E0E3E2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Academic local demonstration · not yet hardened for real customer or payment data</a:t>
            </a:r>
            <a:endParaRPr lang="en-US" sz="119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8580" y="2503736"/>
            <a:ext cx="2438400" cy="842963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52763" y="2503736"/>
            <a:ext cx="2438400" cy="842963"/>
          </a:xfrm>
          <a:prstGeom prst="rect">
            <a:avLst/>
          </a:prstGeom>
        </p:spPr>
      </p:pic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56982" y="2503736"/>
            <a:ext cx="2438400" cy="842963"/>
          </a:xfrm>
          <a:prstGeom prst="rect">
            <a:avLst/>
          </a:prstGeom>
        </p:spPr>
      </p:pic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7688" y="4398392"/>
            <a:ext cx="8048625" cy="33337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2026-10-14T10:46:05Z</dcterms:created>
  <dcterms:modified xsi:type="dcterms:W3CDTF">2026-10-14T10:46:05Z</dcterms:modified>
</cp:coreProperties>
</file>